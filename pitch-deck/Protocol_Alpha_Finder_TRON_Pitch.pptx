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开场一句：我们不是做 Trading Alpha。我们做的是 Protocol Alpha。核心循环只有一句：Alpha finds wallets, wallets find more Alpha。
这页不要解释太多，20秒内进入下一页。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这里讲个人经历。简单英文：I research liquidations. Sometimes I see someone else already took the opportunity. Then I ask: if this wallet found one opportunity before me, what else did it find?
关键：清算不是产品，是线索。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这页是第一个卖点，一定要强调：We focus on Protocol Alpha, not Trading Alpha. Protocol Alpha means profit from protocol mechanics and smart-contract execution, not market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 seed 都是 TRON 生态的。注意表述：它们不是最终产品，而是启动点。
Energy Rental liquidation 是最强的 TRON-native seed。JustLend 普通 liquidation 官方有 UI，所以它不是“hidden”最强例子，但仍能找到真正参与 protocol execution 的地址。USDD redo 是 keeper-style technical seed。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这是整场最重要的一页。核心不是 wallet analysis，而是两个实体互相转换。Known Alpha → executors → Strategy Wallet → agent → new Alpha。新的 Alpha 再成为 seed。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第三个卖点：为什么必须用 Agent。不要说因为 AI 很强。要说 Protocol Alpha cannot be fully predefined. This is discovery, not only classification. Agent 知道去哪些高 signal wallet 找，但不知道会发现什么。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技术点：不要把所有事情都说成 LLM。Deterministic code 做交易解析、token flow、PnL、状态读取；Agent 做语义理解、跨交易模式、策略假设、调用文档/工具继续研究。最后 Validation 必须可复现。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这里是给 TRON 团队最重要的生态结合页。强调不是随便把 AI 放到链上。我们的第一批 seed 本身就是 TRON-native；而且 TRON 现在已经有 TronGrid/TronScan/JustLend/USDD 的 MCP/Agent 接口，Agent workflow 有很自然的数据基础。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竞品页：不要说别人做不到 wallet analysis。Phoenix 已经验证 wallet can represent a strategy，但它是 trading domain。EigenPhi 能做复杂 transaction/MEV strategy，但更偏已知 taxonomy。我们的新点是：从已知 Protocol Alpha 找高 signal wallet，再做 open-ended discovery。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收尾：Hackathon 目标不是承诺发现一个神秘的 live alpha，而是证明循环。即使发现的是 historical/expired alpha，只要 Agent 从 seed wallet 的历史中独立还原并验证机制，也证明方法有效。最后一句重复：Alpha finds wallets. Wallets find more Alpha.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Appendix，不需要现场讲。用于评委追问时证明三个 TRON seed 和竞品定位都有文档依据。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002D"/>
          </a:solidFill>
          <a:ln w="12700">
            <a:solidFill>
              <a:srgbClr val="E6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Alpha Finder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464040" y="64922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TRON ecosystem pitch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002D"/>
          </a:solidFill>
          <a:ln w="12700">
            <a:solidFill>
              <a:srgbClr val="E60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1792"/>
            <a:ext cx="2057400" cy="310896"/>
          </a:xfrm>
          <a:prstGeom prst="roundRect">
            <a:avLst>
              <a:gd name="adj" fmla="val 20588"/>
            </a:avLst>
          </a:prstGeom>
          <a:solidFill>
            <a:srgbClr val="221A1D"/>
          </a:solidFill>
          <a:ln w="13970">
            <a:solidFill>
              <a:srgbClr val="E60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9224" y="676656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002D"/>
                </a:solidFill>
              </a:rPr>
              <a:t>TRON-NATIVE × AI AGENT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03504" y="1325880"/>
            <a:ext cx="6858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Protocol Alpha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Finder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1F3"/>
                </a:solidFill>
              </a:rPr>
              <a:t>Alpha finds wallets. Wallets find more Alpha.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7588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8B8C0"/>
                </a:solidFill>
              </a:rPr>
              <a:t>A seed-driven AI agent for discovering and validating contract-native opportunities in the TRON ecosystem.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58200" y="1234440"/>
            <a:ext cx="2011680" cy="2011680"/>
          </a:xfrm>
          <a:prstGeom prst="ellipse">
            <a:avLst/>
          </a:prstGeom>
          <a:solidFill>
            <a:srgbClr val="2A151A"/>
          </a:solidFill>
          <a:ln w="25400">
            <a:solidFill>
              <a:srgbClr val="E600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67928" y="158191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Protocol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Alpha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22792" y="2194560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5D66"/>
                </a:solidFill>
              </a:rPr>
              <a:t>known mechanism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464040" y="3794760"/>
            <a:ext cx="2011680" cy="2011680"/>
          </a:xfrm>
          <a:prstGeom prst="ellipse">
            <a:avLst/>
          </a:prstGeom>
          <a:solidFill>
            <a:srgbClr val="171E29"/>
          </a:solidFill>
          <a:ln w="25400">
            <a:solidFill>
              <a:srgbClr val="4B7F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73768" y="414223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Strategy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Wallet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28632" y="4754880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5D66"/>
                </a:solidFill>
              </a:rPr>
              <a:t>proven on-chain insight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75320" y="2578608"/>
            <a:ext cx="3154680" cy="2194560"/>
          </a:xfrm>
          <a:prstGeom prst="arc">
            <a:avLst/>
          </a:prstGeom>
          <a:noFill/>
          <a:ln w="38100">
            <a:solidFill>
              <a:srgbClr val="E6002D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 rot="960000">
            <a:off x="9628632" y="26334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F"/>
                </a:solidFill>
              </a:rPr>
              <a:t>find executors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flipV="1">
            <a:off x="7452360" y="2670048"/>
            <a:ext cx="2926080" cy="2148840"/>
          </a:xfrm>
          <a:prstGeom prst="arc">
            <a:avLst/>
          </a:prstGeom>
          <a:noFill/>
          <a:ln w="38100">
            <a:solidFill>
              <a:srgbClr val="4B7FE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 rot="-1200000">
            <a:off x="763524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F"/>
                </a:solidFill>
              </a:rPr>
              <a:t>discover more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5961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80"/>
                </a:solidFill>
              </a:rPr>
              <a:t>Pitch for TRON ecosystem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14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started from a real liquidation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5D66"/>
                </a:solidFill>
              </a:rPr>
              <a:t>A personal research workflow, not a hackathon-only idea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3E8"/>
            </a:solidFill>
            <a:prstDash val="solid"/>
          </a:ln>
          <a:effectLst>
            <a:outerShdw sx="100000" sy="100000" kx="0" ky="0" algn="bl" rotWithShape="0" blurRad="16510" dist="50800" dir="2700000">
              <a:srgbClr val="D7D7D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719072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6002D"/>
                </a:solidFill>
              </a:rPr>
              <a:t>1 — REAL PAIN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95528" y="1993392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I found an opportunity…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2432304"/>
            <a:ext cx="2843784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I research on-chain liquidations and protocol mechanics. Sometimes I discover a profitable opportunity only after another wallet has already executed it.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041648" y="2926080"/>
            <a:ext cx="502920" cy="347472"/>
          </a:xfrm>
          <a:prstGeom prst="chevron">
            <a:avLst/>
          </a:prstGeom>
          <a:solidFill>
            <a:srgbClr val="B9B9BF"/>
          </a:solidFill>
          <a:ln w="12700">
            <a:solidFill>
              <a:srgbClr val="B9B9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5544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4E8"/>
          </a:solidFill>
          <a:ln w="12700">
            <a:solidFill>
              <a:srgbClr val="F0D5B6"/>
            </a:solidFill>
            <a:prstDash val="solid"/>
          </a:ln>
          <a:effectLst>
            <a:outerShdw sx="100000" sy="100000" kx="0" ky="0" algn="bl" rotWithShape="0" blurRad="16510" dist="50800" dir="2700000">
              <a:srgbClr val="D7D7DB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0328" y="1719072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56A13"/>
                </a:solidFill>
              </a:rPr>
              <a:t>2 — THE CLUE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10328" y="1993392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…but someone was earlier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10328" y="2432304"/>
            <a:ext cx="2843784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The protocol was public. The action was permissionless. The difference was not private information — they understood the mechanism earlier.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156448" y="2926080"/>
            <a:ext cx="502920" cy="347472"/>
          </a:xfrm>
          <a:prstGeom prst="chevron">
            <a:avLst/>
          </a:prstGeom>
          <a:solidFill>
            <a:srgbClr val="B9B9BF"/>
          </a:solidFill>
          <a:ln w="12700">
            <a:solidFill>
              <a:srgbClr val="B9B9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1554480"/>
            <a:ext cx="2743200" cy="3429000"/>
          </a:xfrm>
          <a:prstGeom prst="roundRect">
            <a:avLst>
              <a:gd name="adj" fmla="val 2667"/>
            </a:avLst>
          </a:prstGeom>
          <a:solidFill>
            <a:srgbClr val="EDF3FF"/>
          </a:solidFill>
          <a:ln w="12700">
            <a:solidFill>
              <a:srgbClr val="CBD9F5"/>
            </a:solidFill>
            <a:prstDash val="solid"/>
          </a:ln>
          <a:effectLst>
            <a:outerShdw sx="100000" sy="100000" kx="0" ky="0" algn="bl" rotWithShape="0" blurRad="16510" dist="50800" dir="2700000">
              <a:srgbClr val="D7D7DB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25128" y="171907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D67C8"/>
                </a:solidFill>
              </a:rPr>
              <a:t>3 — THE INSIGHT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025128" y="199339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So I asked: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25128" y="2432304"/>
            <a:ext cx="2340864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“If this wallet found one non-obvious Protocol Alpha before I did, what else has it found?”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1737360" y="53492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1418"/>
                </a:solidFill>
              </a:rPr>
              <a:t>The liquidation is not the product. It is the clue.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14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scope: Protocol Alpha — not Trading Alpha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5D66"/>
                </a:solidFill>
              </a:rPr>
              <a:t>Profit from protocol mechanics and smart-contract execution, not market prediction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1F1F3"/>
          </a:solidFill>
          <a:ln w="12700">
            <a:solidFill>
              <a:srgbClr val="E1E1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8B92"/>
                </a:solidFill>
              </a:rPr>
              <a:t>NOT OUR FOCUS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D5D66"/>
                </a:solidFill>
              </a:rPr>
              <a:t>Trading Alpha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60120" y="29443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9AA0"/>
                </a:solidFill>
              </a:rPr>
              <a:t>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8448" y="2962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F76"/>
                </a:solidFill>
              </a:rPr>
              <a:t>Token price prediction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566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9AA0"/>
                </a:solidFill>
              </a:rPr>
              <a:t>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3584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F76"/>
                </a:solidFill>
              </a:rPr>
              <a:t>Smart Money / whale moves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4187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9AA0"/>
                </a:solidFill>
              </a:rPr>
              <a:t>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8448" y="4206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F76"/>
                </a:solidFill>
              </a:rPr>
              <a:t>Momentum / early entry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48097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9AA0"/>
                </a:solidFill>
              </a:rPr>
              <a:t>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8448" y="4828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F76"/>
                </a:solidFill>
              </a:rPr>
              <a:t>Copy trading signals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55448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FF7F8"/>
          </a:solidFill>
          <a:ln w="15240">
            <a:solidFill>
              <a:srgbClr val="F0C6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2D"/>
                </a:solidFill>
              </a:rPr>
              <a:t>OUR PROBLEM SPACE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22677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418"/>
                </a:solidFill>
              </a:rPr>
              <a:t>Protocol Alpha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675120" y="294436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002D"/>
                </a:solidFill>
              </a:rPr>
              <a:t>✓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40880" y="2962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8"/>
                </a:solidFill>
              </a:rPr>
              <a:t>Permissionless protocol rewards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56616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002D"/>
                </a:solidFill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040880" y="3584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8"/>
                </a:solidFill>
              </a:rPr>
              <a:t>Liquidation / keeper actions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418795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002D"/>
                </a:solidFill>
              </a:rPr>
              <a:t>✓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40880" y="4206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8"/>
                </a:solidFill>
              </a:rPr>
              <a:t>Non-obvious execution paths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480974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002D"/>
                </a:solidFill>
              </a:rPr>
              <a:t>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0" y="4828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8"/>
                </a:solidFill>
              </a:rPr>
              <a:t>Contract-native economic edge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2D"/>
                </a:solidFill>
              </a:rPr>
              <a:t>Knowledge edge / contract edge — not capital edge.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14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TRON gives us strong Protocol Alpha seeds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5D66"/>
                </a:solidFill>
              </a:rPr>
              <a:t>Three ecosystem-native mechanisms to bootstrap high-signal wallets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493008" cy="4251960"/>
          </a:xfrm>
          <a:prstGeom prst="roundRect">
            <a:avLst>
              <a:gd name="adj" fmla="val 2094"/>
            </a:avLst>
          </a:prstGeom>
          <a:solidFill>
            <a:srgbClr val="FFF7F8"/>
          </a:solidFill>
          <a:ln w="12700">
            <a:solidFill>
              <a:srgbClr val="F1CBD2"/>
            </a:solidFill>
            <a:prstDash val="solid"/>
          </a:ln>
          <a:effectLst>
            <a:outerShdw sx="100000" sy="100000" kx="0" ky="0" algn="bl" rotWithShape="0" blurRad="16510" dist="50800" dir="2700000">
              <a:srgbClr val="D7D7D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76479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6002D"/>
                </a:solidFill>
              </a:rPr>
              <a:t>STRONG SEED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95528" y="2039112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Energy Rental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liquidation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2478024"/>
            <a:ext cx="3090672" cy="3209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When an Energy Rental order deposit becomes insufficient, anyone can call `liquidate(...)`. The liquidator receives a protocol-defined reward. This is deeply TRON-native because smart-contract execution consumes Energy.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68680" y="5257800"/>
            <a:ext cx="1188720" cy="310896"/>
          </a:xfrm>
          <a:prstGeom prst="roundRect">
            <a:avLst>
              <a:gd name="adj" fmla="val 20588"/>
            </a:avLst>
          </a:prstGeom>
          <a:solidFill>
            <a:srgbClr val="FFF7F8"/>
          </a:solidFill>
          <a:ln w="13970">
            <a:solidFill>
              <a:srgbClr val="E600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531266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002D"/>
                </a:solidFill>
              </a:rPr>
              <a:t>permissionless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67128" y="5257800"/>
            <a:ext cx="822960" cy="310896"/>
          </a:xfrm>
          <a:prstGeom prst="roundRect">
            <a:avLst>
              <a:gd name="adj" fmla="val 20588"/>
            </a:avLst>
          </a:prstGeom>
          <a:solidFill>
            <a:srgbClr val="FFF7F8"/>
          </a:solidFill>
          <a:ln w="13970">
            <a:solidFill>
              <a:srgbClr val="E600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1992" y="531266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002D"/>
                </a:solidFill>
              </a:rPr>
              <a:t>off-UI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99816" y="5257800"/>
            <a:ext cx="713232" cy="310896"/>
          </a:xfrm>
          <a:prstGeom prst="roundRect">
            <a:avLst>
              <a:gd name="adj" fmla="val 20588"/>
            </a:avLst>
          </a:prstGeom>
          <a:solidFill>
            <a:srgbClr val="FFF7F8"/>
          </a:solidFill>
          <a:ln w="13970">
            <a:solidFill>
              <a:srgbClr val="E600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531266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002D"/>
                </a:solidFill>
              </a:rPr>
              <a:t>rewarded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600200"/>
            <a:ext cx="3493008" cy="4251960"/>
          </a:xfrm>
          <a:prstGeom prst="roundRect">
            <a:avLst>
              <a:gd name="adj" fmla="val 2094"/>
            </a:avLst>
          </a:prstGeom>
          <a:solidFill>
            <a:srgbClr val="EDF3FF"/>
          </a:solidFill>
          <a:ln w="12700">
            <a:solidFill>
              <a:srgbClr val="D3DEF4"/>
            </a:solidFill>
            <a:prstDash val="solid"/>
          </a:ln>
          <a:effectLst>
            <a:outerShdw sx="100000" sy="100000" kx="0" ky="0" algn="bl" rotWithShape="0" blurRad="16510" dist="50800" dir="2700000">
              <a:srgbClr val="D7D7DB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44568" y="176479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D67C8"/>
                </a:solidFill>
              </a:rPr>
              <a:t>BROAD SEED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44568" y="2039112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JustLend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lending liquidation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44568" y="2478024"/>
            <a:ext cx="3090672" cy="3209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Any network participant can liquidate eligible under-collateralized positions. JustLend documents an 8% liquidation reward and bot-oriented candidate discovery. This is a broader seed for active protocol operators.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617720" y="5257800"/>
            <a:ext cx="1188720" cy="310896"/>
          </a:xfrm>
          <a:prstGeom prst="roundRect">
            <a:avLst>
              <a:gd name="adj" fmla="val 20588"/>
            </a:avLst>
          </a:prstGeom>
          <a:solidFill>
            <a:srgbClr val="EDF3FF"/>
          </a:solidFill>
          <a:ln w="13970">
            <a:solidFill>
              <a:srgbClr val="2D67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531266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7C8"/>
                </a:solidFill>
              </a:rPr>
              <a:t>permissionless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16168" y="5257800"/>
            <a:ext cx="960120" cy="310896"/>
          </a:xfrm>
          <a:prstGeom prst="roundRect">
            <a:avLst>
              <a:gd name="adj" fmla="val 20588"/>
            </a:avLst>
          </a:prstGeom>
          <a:solidFill>
            <a:srgbClr val="EDF3FF"/>
          </a:solidFill>
          <a:ln w="13970">
            <a:solidFill>
              <a:srgbClr val="2D67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1032" y="5312664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7C8"/>
                </a:solidFill>
              </a:rPr>
              <a:t>competitive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92440" y="1600200"/>
            <a:ext cx="3493008" cy="4251960"/>
          </a:xfrm>
          <a:prstGeom prst="roundRect">
            <a:avLst>
              <a:gd name="adj" fmla="val 2094"/>
            </a:avLst>
          </a:prstGeom>
          <a:solidFill>
            <a:srgbClr val="E9F7F0"/>
          </a:solidFill>
          <a:ln w="12700">
            <a:solidFill>
              <a:srgbClr val="CDE7D9"/>
            </a:solidFill>
            <a:prstDash val="solid"/>
          </a:ln>
          <a:effectLst>
            <a:outerShdw sx="100000" sy="100000" kx="0" ky="0" algn="bl" rotWithShape="0" blurRad="16510" dist="50800" dir="2700000">
              <a:srgbClr val="D7D7DB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93608" y="176479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</a:rPr>
              <a:t>TECHNICAL SEED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93608" y="2039112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USDD keeper /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auction actions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93608" y="2478024"/>
            <a:ext cx="3090672" cy="3209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USDD’s `Clip` auction contract exposes keeper actions such as `redo(id, kpr)` to reinitialize stale auctions. The liquidation system explicitly incentivizes keepers — a strong source of technical wallet signals.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366760" y="5257800"/>
            <a:ext cx="822960" cy="310896"/>
          </a:xfrm>
          <a:prstGeom prst="roundRect">
            <a:avLst>
              <a:gd name="adj" fmla="val 20588"/>
            </a:avLst>
          </a:prstGeom>
          <a:solidFill>
            <a:srgbClr val="E9F7F0"/>
          </a:solidFill>
          <a:ln w="13970">
            <a:solidFill>
              <a:srgbClr val="1E8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531266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5A"/>
                </a:solidFill>
              </a:rPr>
              <a:t>keeper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299448" y="525780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9F7F0"/>
          </a:solidFill>
          <a:ln w="13970">
            <a:solidFill>
              <a:srgbClr val="1E8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53126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5A"/>
                </a:solidFill>
              </a:rPr>
              <a:t>contract-native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780776" y="5257800"/>
            <a:ext cx="685800" cy="310896"/>
          </a:xfrm>
          <a:prstGeom prst="roundRect">
            <a:avLst>
              <a:gd name="adj" fmla="val 20588"/>
            </a:avLst>
          </a:prstGeom>
          <a:solidFill>
            <a:srgbClr val="E9F7F0"/>
          </a:solidFill>
          <a:ln w="13970">
            <a:solidFill>
              <a:srgbClr val="1E8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35640" y="5312664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5A"/>
                </a:solidFill>
              </a:rPr>
              <a:t>TRON DeFi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14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idea is a two-way conversion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5D66"/>
                </a:solidFill>
              </a:rPr>
              <a:t>Protocol Alpha finds Strategy Wallets — Strategy Wallets reveal more Protocol Alpha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148840" cy="2148840"/>
          </a:xfrm>
          <a:prstGeom prst="ellipse">
            <a:avLst/>
          </a:prstGeom>
          <a:solidFill>
            <a:srgbClr val="FFF2F4"/>
          </a:solidFill>
          <a:ln w="25400">
            <a:solidFill>
              <a:srgbClr val="E600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22199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8"/>
                </a:solidFill>
              </a:rPr>
              <a:t>Protocol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1418"/>
                </a:solidFill>
              </a:rPr>
              <a:t>Alpha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0392" y="283464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5D66"/>
                </a:solidFill>
              </a:rPr>
              <a:t>known seed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0" y="1874520"/>
            <a:ext cx="2148840" cy="2148840"/>
          </a:xfrm>
          <a:prstGeom prst="ellipse">
            <a:avLst/>
          </a:prstGeom>
          <a:solidFill>
            <a:srgbClr val="EDF3FF"/>
          </a:solidFill>
          <a:ln w="25400">
            <a:solidFill>
              <a:srgbClr val="4B7F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8928" y="222199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8"/>
                </a:solidFill>
              </a:rPr>
              <a:t>Strategy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1418"/>
                </a:solidFill>
              </a:rPr>
              <a:t>Wallet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193792" y="283464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5D66"/>
                </a:solidFill>
              </a:rPr>
              <a:t>proven protocol insight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372600" y="1874520"/>
            <a:ext cx="2148840" cy="2148840"/>
          </a:xfrm>
          <a:prstGeom prst="ellipse">
            <a:avLst/>
          </a:prstGeom>
          <a:solidFill>
            <a:srgbClr val="EAF7F0"/>
          </a:solidFill>
          <a:ln w="25400">
            <a:solidFill>
              <a:srgbClr val="2A9D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2328" y="222199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8"/>
                </a:solidFill>
              </a:rPr>
              <a:t>New Protocol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1418"/>
                </a:solidFill>
              </a:rPr>
              <a:t>Alpha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537192" y="283464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5D66"/>
                </a:solidFill>
              </a:rPr>
              <a:t>validated candidate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71800" y="2606040"/>
            <a:ext cx="1508760" cy="438912"/>
          </a:xfrm>
          <a:prstGeom prst="rightArrow">
            <a:avLst/>
          </a:prstGeom>
          <a:solidFill>
            <a:srgbClr val="E6002D"/>
          </a:solidFill>
          <a:ln w="12700">
            <a:solidFill>
              <a:srgbClr val="E600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62072" y="21488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002D"/>
                </a:solidFill>
              </a:rPr>
              <a:t>Who executed it?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2606040"/>
            <a:ext cx="1508760" cy="438912"/>
          </a:xfrm>
          <a:prstGeom prst="rightArrow">
            <a:avLst/>
          </a:prstGeom>
          <a:solidFill>
            <a:srgbClr val="4B7FE0"/>
          </a:solidFill>
          <a:ln w="12700">
            <a:solidFill>
              <a:srgbClr val="4B7F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472" y="21488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67C8"/>
                </a:solidFill>
              </a:rPr>
              <a:t>What else did they do?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flipV="1">
            <a:off x="8915400" y="3675888"/>
            <a:ext cx="1920240" cy="1463040"/>
          </a:xfrm>
          <a:prstGeom prst="arc">
            <a:avLst/>
          </a:prstGeom>
          <a:noFill/>
          <a:ln w="31750">
            <a:solidFill>
              <a:srgbClr val="2A9D6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165592" y="4892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E5A"/>
                </a:solidFill>
              </a:rPr>
              <a:t>new seed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0" y="4645152"/>
            <a:ext cx="7589520" cy="0"/>
          </a:xfrm>
          <a:prstGeom prst="line">
            <a:avLst/>
          </a:prstGeom>
          <a:noFill/>
          <a:ln w="16510">
            <a:solidFill>
              <a:srgbClr val="B7B7BD"/>
            </a:solidFill>
            <a:prstDash val="solid"/>
            <a:headEnd type="triangle"/>
          </a:ln>
        </p:spPr>
      </p:sp>
      <p:sp>
        <p:nvSpPr>
          <p:cNvPr id="20" name="Text 18"/>
          <p:cNvSpPr/>
          <p:nvPr/>
        </p:nvSpPr>
        <p:spPr>
          <a:xfrm>
            <a:off x="3977640" y="4800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5D66"/>
                </a:solidFill>
              </a:rPr>
              <a:t>repeat → more wallets → more alpha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557784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1418"/>
                </a:solidFill>
              </a:rPr>
              <a:t>Alpha finds Wallets. Wallets find more Alpha.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14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an Agent? Protocol Alpha is open-ended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5D66"/>
                </a:solidFill>
              </a:rPr>
              <a:t>We know where to look — but we do not know what we will find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4526280" cy="4251960"/>
          </a:xfrm>
          <a:prstGeom prst="roundRect">
            <a:avLst>
              <a:gd name="adj" fmla="val 1720"/>
            </a:avLst>
          </a:prstGeom>
          <a:solidFill>
            <a:srgbClr val="F0F0F2"/>
          </a:solidFill>
          <a:ln w="12700">
            <a:solidFill>
              <a:srgbClr val="E0E0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E"/>
                </a:solidFill>
              </a:rPr>
              <a:t>Traditional detector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0976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9298"/>
                </a:solidFill>
              </a:rPr>
              <a:t>Known taxonomy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9264" y="2816352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ADA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9352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6970"/>
                </a:solidFill>
              </a:rPr>
              <a:t>Liquidation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9264" y="3419856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ADA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538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6970"/>
                </a:solidFill>
              </a:rPr>
              <a:t>Arbitrage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9264" y="4023360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ADA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1422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6970"/>
                </a:solidFill>
              </a:rPr>
              <a:t>Sandwich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9264" y="4626864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ADA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745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6970"/>
                </a:solidFill>
              </a:rPr>
              <a:t>Known MEV pattern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" y="53492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3737A"/>
                </a:solidFill>
              </a:rPr>
              <a:t>“Find more examples of what I already know.”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96128" y="1554480"/>
            <a:ext cx="5943600" cy="4251960"/>
          </a:xfrm>
          <a:prstGeom prst="roundRect">
            <a:avLst>
              <a:gd name="adj" fmla="val 1720"/>
            </a:avLst>
          </a:prstGeom>
          <a:solidFill>
            <a:srgbClr val="FFF7F8"/>
          </a:solidFill>
          <a:ln w="15240">
            <a:solidFill>
              <a:srgbClr val="F0C6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16168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Protocol Alpha Agent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16168" y="23591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2D"/>
                </a:solidFill>
              </a:rPr>
              <a:t>Open-ended reasoning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25312" y="2788920"/>
            <a:ext cx="1225296" cy="475488"/>
          </a:xfrm>
          <a:prstGeom prst="roundRect">
            <a:avLst>
              <a:gd name="adj" fmla="val 9615"/>
            </a:avLst>
          </a:prstGeom>
          <a:solidFill>
            <a:srgbClr val="E6002D"/>
          </a:solidFill>
          <a:ln w="12700">
            <a:solidFill>
              <a:srgbClr val="E600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29169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Decode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7333488" y="29169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8"/>
                </a:solidFill>
              </a:rPr>
              <a:t>contracts &amp; functions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25312" y="3337560"/>
            <a:ext cx="1225296" cy="475488"/>
          </a:xfrm>
          <a:prstGeom prst="roundRect">
            <a:avLst>
              <a:gd name="adj" fmla="val 9615"/>
            </a:avLst>
          </a:prstGeom>
          <a:solidFill>
            <a:srgbClr val="E6002D"/>
          </a:solidFill>
          <a:ln w="12700">
            <a:solidFill>
              <a:srgbClr val="E600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34655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Cluster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7333488" y="3465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8"/>
                </a:solidFill>
              </a:rPr>
              <a:t>repeated behavior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25312" y="3886200"/>
            <a:ext cx="1225296" cy="475488"/>
          </a:xfrm>
          <a:prstGeom prst="roundRect">
            <a:avLst>
              <a:gd name="adj" fmla="val 9615"/>
            </a:avLst>
          </a:prstGeom>
          <a:solidFill>
            <a:srgbClr val="E6002D"/>
          </a:solidFill>
          <a:ln w="12700">
            <a:solidFill>
              <a:srgbClr val="E600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40142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Trace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7333488" y="4014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8"/>
                </a:solidFill>
              </a:rPr>
              <a:t>token / asset flow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25312" y="4434840"/>
            <a:ext cx="1225296" cy="475488"/>
          </a:xfrm>
          <a:prstGeom prst="roundRect">
            <a:avLst>
              <a:gd name="adj" fmla="val 9615"/>
            </a:avLst>
          </a:prstGeom>
          <a:solidFill>
            <a:srgbClr val="E6002D"/>
          </a:solidFill>
          <a:ln w="12700">
            <a:solidFill>
              <a:srgbClr val="E600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45628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Hypothesize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7333488" y="4562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8"/>
                </a:solidFill>
              </a:rPr>
              <a:t>why it may profit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25312" y="4983480"/>
            <a:ext cx="1225296" cy="475488"/>
          </a:xfrm>
          <a:prstGeom prst="roundRect">
            <a:avLst>
              <a:gd name="adj" fmla="val 9615"/>
            </a:avLst>
          </a:prstGeom>
          <a:solidFill>
            <a:srgbClr val="E6002D"/>
          </a:solidFill>
          <a:ln w="12700">
            <a:solidFill>
              <a:srgbClr val="E600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51114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Verify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7333488" y="5111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8"/>
                </a:solidFill>
              </a:rPr>
              <a:t>current state &amp; risk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16168" y="53492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6002D"/>
                </a:solidFill>
              </a:rPr>
              <a:t>“Discover strategies that were never predefined.”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14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5D66"/>
                </a:solidFill>
              </a:rPr>
              <a:t>Agent reasoning on top of deterministic on-chain reconstruction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65960" cy="3429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9339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C8C93"/>
                </a:solidFill>
              </a:rPr>
              <a:t>DETERMINISTIC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49808" y="2267712"/>
            <a:ext cx="1563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1.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706624"/>
            <a:ext cx="1563624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TronGrid / TronScan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JustLend &amp; USDD APIs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ABIs + docs + events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624328" y="3163824"/>
            <a:ext cx="347472" cy="411480"/>
          </a:xfrm>
          <a:prstGeom prst="chevron">
            <a:avLst/>
          </a:prstGeom>
          <a:solidFill>
            <a:srgbClr val="C4C4C9"/>
          </a:solidFill>
          <a:ln w="12700">
            <a:solidFill>
              <a:srgbClr val="C4C4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828800"/>
            <a:ext cx="1965960" cy="3429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199339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C8C93"/>
                </a:solidFill>
              </a:rPr>
              <a:t>DETERMINISTIC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27248" y="2267712"/>
            <a:ext cx="1563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2. Normalize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27248" y="2706624"/>
            <a:ext cx="1563624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Full wallet history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Function decoding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Token / TRX flows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Behavior clusters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001768" y="3163824"/>
            <a:ext cx="347472" cy="411480"/>
          </a:xfrm>
          <a:prstGeom prst="chevron">
            <a:avLst/>
          </a:prstGeom>
          <a:solidFill>
            <a:srgbClr val="C4C4C9"/>
          </a:solidFill>
          <a:ln w="12700">
            <a:solidFill>
              <a:srgbClr val="C4C4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1828800"/>
            <a:ext cx="1965960" cy="3429000"/>
          </a:xfrm>
          <a:prstGeom prst="roundRect">
            <a:avLst>
              <a:gd name="adj" fmla="val 3721"/>
            </a:avLst>
          </a:prstGeom>
          <a:solidFill>
            <a:srgbClr val="FFF3F5"/>
          </a:solidFill>
          <a:ln w="12700">
            <a:solidFill>
              <a:srgbClr val="E9A6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199339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6002D"/>
                </a:solidFill>
              </a:rPr>
              <a:t>AI REASONING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04688" y="2267712"/>
            <a:ext cx="1563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3. Agent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04688" y="2706624"/>
            <a:ext cx="1563624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Contract semantics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Strategy hypotheses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Cross-tx reasoning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Unknown pattern search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379208" y="3163824"/>
            <a:ext cx="347472" cy="411480"/>
          </a:xfrm>
          <a:prstGeom prst="chevron">
            <a:avLst/>
          </a:prstGeom>
          <a:solidFill>
            <a:srgbClr val="C4C4C9"/>
          </a:solidFill>
          <a:ln w="12700">
            <a:solidFill>
              <a:srgbClr val="C4C4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1828800"/>
            <a:ext cx="1965960" cy="3429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2128" y="199339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C8C93"/>
                </a:solidFill>
              </a:rPr>
              <a:t>DETERMINISTIC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82128" y="2267712"/>
            <a:ext cx="1563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4. Validate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882128" y="2706624"/>
            <a:ext cx="1563624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Profit mechanism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Current parameters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Execution cost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Competition / risk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756648" y="3163824"/>
            <a:ext cx="347472" cy="411480"/>
          </a:xfrm>
          <a:prstGeom prst="chevron">
            <a:avLst/>
          </a:prstGeom>
          <a:solidFill>
            <a:srgbClr val="C4C4C9"/>
          </a:solidFill>
          <a:ln w="12700">
            <a:solidFill>
              <a:srgbClr val="C4C4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1828800"/>
            <a:ext cx="1600200" cy="3429000"/>
          </a:xfrm>
          <a:prstGeom prst="roundRect">
            <a:avLst>
              <a:gd name="adj" fmla="val 4571"/>
            </a:avLst>
          </a:prstGeom>
          <a:solidFill>
            <a:srgbClr val="EAF7F0"/>
          </a:solidFill>
          <a:ln w="12700">
            <a:solidFill>
              <a:srgbClr val="B9DE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59568" y="1993392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</a:rPr>
              <a:t>ACTIONABLE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259568" y="226771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5. Output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259568" y="2706624"/>
            <a:ext cx="1197864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Validated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Protocol Alpha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1143000" y="5632704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8"/>
                </a:solidFill>
              </a:rPr>
              <a:t>AI does interpretation &amp; hypothesis generation. Code does accounting, state checks, and reproducible validation.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14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TRON is an ideal launch ecosystem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5D66"/>
                </a:solidFill>
              </a:rPr>
              <a:t>The chain already has protocol-native resources, DeFi mechanics, and Agent-ready data interfaces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474720" cy="3886200"/>
          </a:xfrm>
          <a:prstGeom prst="roundRect">
            <a:avLst>
              <a:gd name="adj" fmla="val 2105"/>
            </a:avLst>
          </a:prstGeom>
          <a:solidFill>
            <a:srgbClr val="FFF5F7"/>
          </a:solidFill>
          <a:ln w="12700">
            <a:solidFill>
              <a:srgbClr val="EFC8D0"/>
            </a:solidFill>
            <a:prstDash val="solid"/>
          </a:ln>
          <a:effectLst>
            <a:outerShdw sx="100000" sy="100000" kx="0" ky="0" algn="bl" rotWithShape="0" blurRad="16510" dist="50800" dir="2700000">
              <a:srgbClr val="D7D7D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90195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6002D"/>
                </a:solidFill>
              </a:rPr>
              <a:t>NATIVE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86968" y="217627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TRON-specific mechanics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2615184"/>
            <a:ext cx="3072384" cy="2843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Energy is a first-class execution resource. Energy Rental creates protocol behavior that does not exist in the same form on ordinary EVM chains.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507992" y="1737360"/>
            <a:ext cx="3474720" cy="3886200"/>
          </a:xfrm>
          <a:prstGeom prst="roundRect">
            <a:avLst>
              <a:gd name="adj" fmla="val 2105"/>
            </a:avLst>
          </a:prstGeom>
          <a:solidFill>
            <a:srgbClr val="EDF3FF"/>
          </a:solidFill>
          <a:ln w="12700">
            <a:solidFill>
              <a:srgbClr val="CAD9F6"/>
            </a:solidFill>
            <a:prstDash val="solid"/>
          </a:ln>
          <a:effectLst>
            <a:outerShdw sx="100000" sy="100000" kx="0" ky="0" algn="bl" rotWithShape="0" blurRad="16510" dist="50800" dir="2700000">
              <a:srgbClr val="D7D7D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90195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D67C8"/>
                </a:solidFill>
              </a:rPr>
              <a:t>SEEDS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09160" y="217627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Rich DeFi seed space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2615184"/>
            <a:ext cx="3072384" cy="2843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JustLend lending + Energy Rental + USDD auctions provide multiple permissionless, economically meaningful starting points.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330184" y="1737360"/>
            <a:ext cx="3474720" cy="3886200"/>
          </a:xfrm>
          <a:prstGeom prst="roundRect">
            <a:avLst>
              <a:gd name="adj" fmla="val 2105"/>
            </a:avLst>
          </a:prstGeom>
          <a:solidFill>
            <a:srgbClr val="EAF7F0"/>
          </a:solidFill>
          <a:ln w="12700">
            <a:solidFill>
              <a:srgbClr val="C6E2D3"/>
            </a:solidFill>
            <a:prstDash val="solid"/>
          </a:ln>
          <a:effectLst>
            <a:outerShdw sx="100000" sy="100000" kx="0" ky="0" algn="bl" rotWithShape="0" blurRad="16510" dist="50800" dir="2700000">
              <a:srgbClr val="D7D7DB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31352" y="190195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</a:rPr>
              <a:t>INFRA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31352" y="217627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Agent-ready ecosystem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31352" y="2615184"/>
            <a:ext cx="3072384" cy="2843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TRON documents MCP / Agent interfaces for TronGrid, TronScan, JustLend, USDD and wallet tooling — a natural substrate for automated investigation.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1051560" y="57972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8"/>
                </a:solidFill>
              </a:rPr>
              <a:t>This is not “AI on top of any chain.” The first discovery graph is built from TRON-native protocol behavior.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14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idea is credible — and why it is different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5D66"/>
                </a:solidFill>
              </a:rPr>
              <a:t>Existing products validate parts of the thesis; our discovery loop connects them in a new way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2286000" cy="438912"/>
          </a:xfrm>
          <a:prstGeom prst="rect">
            <a:avLst/>
          </a:prstGeom>
          <a:solidFill>
            <a:srgbClr val="1B1B20"/>
          </a:solidFill>
          <a:ln w="12700">
            <a:solidFill>
              <a:srgbClr val="1B1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682496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Product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80360" y="1572768"/>
            <a:ext cx="2148840" cy="438912"/>
          </a:xfrm>
          <a:prstGeom prst="rect">
            <a:avLst/>
          </a:prstGeom>
          <a:solidFill>
            <a:srgbClr val="1B1B20"/>
          </a:solidFill>
          <a:ln w="12700">
            <a:solidFill>
              <a:srgbClr val="1B1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90088" y="1682496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Starts from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0" y="1572768"/>
            <a:ext cx="2286000" cy="438912"/>
          </a:xfrm>
          <a:prstGeom prst="rect">
            <a:avLst/>
          </a:prstGeom>
          <a:solidFill>
            <a:srgbClr val="1B1B20"/>
          </a:solidFill>
          <a:ln w="12700">
            <a:solidFill>
              <a:srgbClr val="1B1B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38928" y="1682496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Finds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0" y="1572768"/>
            <a:ext cx="4251960" cy="438912"/>
          </a:xfrm>
          <a:prstGeom prst="rect">
            <a:avLst/>
          </a:prstGeom>
          <a:solidFill>
            <a:srgbClr val="1B1B20"/>
          </a:solidFill>
          <a:ln w="12700">
            <a:solidFill>
              <a:srgbClr val="1B1B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4928" y="1682496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Core question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011680"/>
            <a:ext cx="228600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139696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5E5E65"/>
                </a:solidFill>
              </a:rPr>
              <a:t>Nansen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880360" y="2011680"/>
            <a:ext cx="2148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0088" y="2139696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E5E65"/>
                </a:solidFill>
              </a:rPr>
              <a:t>Profitable trader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0" y="2011680"/>
            <a:ext cx="228600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2139696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E5E65"/>
                </a:solidFill>
              </a:rPr>
              <a:t>Trading / holdings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315200" y="2011680"/>
            <a:ext cx="42519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4928" y="2139696"/>
            <a:ext cx="4032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E5E65"/>
                </a:solidFill>
              </a:rPr>
              <a:t>Who trades well? What are they buying?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94360" y="2724912"/>
            <a:ext cx="2286000" cy="713232"/>
          </a:xfrm>
          <a:prstGeom prst="rect">
            <a:avLst/>
          </a:prstGeom>
          <a:solidFill>
            <a:srgbClr val="F4F4F6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2852928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5E5E65"/>
                </a:solidFill>
              </a:rPr>
              <a:t>Phoenix Research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2880360" y="2724912"/>
            <a:ext cx="2148840" cy="713232"/>
          </a:xfrm>
          <a:prstGeom prst="rect">
            <a:avLst/>
          </a:prstGeom>
          <a:solidFill>
            <a:srgbClr val="F4F4F6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0088" y="2852928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E5E65"/>
                </a:solidFill>
              </a:rPr>
              <a:t>Wallet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029200" y="2724912"/>
            <a:ext cx="2286000" cy="713232"/>
          </a:xfrm>
          <a:prstGeom prst="rect">
            <a:avLst/>
          </a:prstGeom>
          <a:solidFill>
            <a:srgbClr val="F4F4F6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2852928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E5E65"/>
                </a:solidFill>
              </a:rPr>
              <a:t>Trading strategy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315200" y="2724912"/>
            <a:ext cx="4251960" cy="713232"/>
          </a:xfrm>
          <a:prstGeom prst="rect">
            <a:avLst/>
          </a:prstGeom>
          <a:solidFill>
            <a:srgbClr val="F4F4F6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24928" y="2852928"/>
            <a:ext cx="4032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E5E65"/>
                </a:solidFill>
              </a:rPr>
              <a:t>A wallet can represent a strategy — validated vision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94360" y="3438144"/>
            <a:ext cx="228600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3566160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5E5E65"/>
                </a:solidFill>
              </a:rPr>
              <a:t>EigenPhi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2880360" y="3438144"/>
            <a:ext cx="2148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0088" y="3566160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E5E65"/>
                </a:solidFill>
              </a:rPr>
              <a:t>MEV / complex TX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029200" y="3438144"/>
            <a:ext cx="228600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3566160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E5E65"/>
                </a:solidFill>
              </a:rPr>
              <a:t>Known technical strategies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7315200" y="3438144"/>
            <a:ext cx="42519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24928" y="3566160"/>
            <a:ext cx="4032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E5E65"/>
                </a:solidFill>
              </a:rPr>
              <a:t>Strong at liquidation / arbitrage / MEV analysis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594360" y="4151376"/>
            <a:ext cx="2286000" cy="713232"/>
          </a:xfrm>
          <a:prstGeom prst="rect">
            <a:avLst/>
          </a:prstGeom>
          <a:solidFill>
            <a:srgbClr val="FFF1F4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4279392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1418"/>
                </a:solidFill>
              </a:rPr>
              <a:t>Protocol Alpha Finder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880360" y="4151376"/>
            <a:ext cx="2148840" cy="713232"/>
          </a:xfrm>
          <a:prstGeom prst="rect">
            <a:avLst/>
          </a:prstGeom>
          <a:solidFill>
            <a:srgbClr val="FFF1F4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90088" y="4279392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1418"/>
                </a:solidFill>
              </a:rPr>
              <a:t>Known Protocol Alpha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0" y="4151376"/>
            <a:ext cx="2286000" cy="713232"/>
          </a:xfrm>
          <a:prstGeom prst="rect">
            <a:avLst/>
          </a:prstGeom>
          <a:solidFill>
            <a:srgbClr val="FFF1F4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4279392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1418"/>
                </a:solidFill>
              </a:rPr>
              <a:t>Unknown Protocol Alpha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315200" y="4151376"/>
            <a:ext cx="4251960" cy="713232"/>
          </a:xfrm>
          <a:prstGeom prst="rect">
            <a:avLst/>
          </a:prstGeom>
          <a:solidFill>
            <a:srgbClr val="FFF1F4"/>
          </a:solidFill>
          <a:ln w="10160">
            <a:solidFill>
              <a:srgbClr val="E2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24928" y="4279392"/>
            <a:ext cx="4032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1418"/>
                </a:solidFill>
              </a:rPr>
              <a:t>Alpha → Wallet → open-ended Agent discovery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49808" y="51389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5D66"/>
                </a:solidFill>
              </a:rPr>
              <a:t>Phoenix validates “wallet → strategy”. EigenPhi validates “complex on-chain behavior → technical strategy”.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49808" y="55321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2D"/>
                </a:solidFill>
              </a:rPr>
              <a:t>Our novelty is the seed-driven, open-ended loop:  Protocol Alpha → Strategy Wallet → New Protocol Alpha.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14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Hackathon MVP: prove the discovery loop on TRON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5D66"/>
                </a:solidFill>
              </a:rPr>
              <a:t>We do not need to discover every Alpha — we need to prove the method works end-to-end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057400" cy="352044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933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002D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Seed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6916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Energy Rental liquidation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JustLend liquidation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USDD keeper mechanism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697480" y="3200400"/>
            <a:ext cx="347472" cy="438912"/>
          </a:xfrm>
          <a:prstGeom prst="chevron">
            <a:avLst/>
          </a:prstGeom>
          <a:solidFill>
            <a:srgbClr val="BEBEC4"/>
          </a:solidFill>
          <a:ln w="12700">
            <a:solidFill>
              <a:srgbClr val="BEBE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98648" y="1737360"/>
            <a:ext cx="2057400" cy="352044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9933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002D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6324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Find wallets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63240" y="3063240"/>
            <a:ext cx="16916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Identify real executors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Rank by signal quality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029200" y="3200400"/>
            <a:ext cx="347472" cy="438912"/>
          </a:xfrm>
          <a:prstGeom prst="chevron">
            <a:avLst/>
          </a:prstGeom>
          <a:solidFill>
            <a:srgbClr val="BEBEC4"/>
          </a:solidFill>
          <a:ln w="12700">
            <a:solidFill>
              <a:srgbClr val="BEBE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1737360"/>
            <a:ext cx="2057400" cy="352044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9933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002D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Agent research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4960" y="3063240"/>
            <a:ext cx="16916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Mine full history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Generate non-standard candidates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360920" y="3200400"/>
            <a:ext cx="347472" cy="438912"/>
          </a:xfrm>
          <a:prstGeom prst="chevron">
            <a:avLst/>
          </a:prstGeom>
          <a:solidFill>
            <a:srgbClr val="BEBEC4"/>
          </a:solidFill>
          <a:ln w="12700">
            <a:solidFill>
              <a:srgbClr val="BEBE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62088" y="1737360"/>
            <a:ext cx="2057400" cy="352044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ED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19933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002D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2668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Validate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26680" y="3063240"/>
            <a:ext cx="16916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Mechanism + current state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Execution risk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692640" y="3200400"/>
            <a:ext cx="347472" cy="438912"/>
          </a:xfrm>
          <a:prstGeom prst="chevron">
            <a:avLst/>
          </a:prstGeom>
          <a:solidFill>
            <a:srgbClr val="BEBEC4"/>
          </a:solidFill>
          <a:ln w="12700">
            <a:solidFill>
              <a:srgbClr val="BEBE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93808" y="1737360"/>
            <a:ext cx="2057400" cy="3520440"/>
          </a:xfrm>
          <a:prstGeom prst="roundRect">
            <a:avLst>
              <a:gd name="adj" fmla="val 3111"/>
            </a:avLst>
          </a:prstGeom>
          <a:solidFill>
            <a:srgbClr val="EAF7F0"/>
          </a:solidFill>
          <a:ln w="12700">
            <a:solidFill>
              <a:srgbClr val="B7DE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19933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E5A"/>
                </a:solidFill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8"/>
                </a:solidFill>
              </a:rPr>
              <a:t>Result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0" y="3063240"/>
            <a:ext cx="16916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5D66"/>
                </a:solidFill>
              </a:rPr>
              <a:t>At least one credible new / historical / expired Protocol Alpha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658368" y="5623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8B92"/>
                </a:solidFill>
              </a:rPr>
              <a:t>Long-term vision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48840" y="55595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1418"/>
                </a:solidFill>
              </a:rPr>
              <a:t>Build a self-growing Protocol Alpha Graph for the TRON ecosystem.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2148840" y="59618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002D"/>
                </a:solidFill>
              </a:rPr>
              <a:t>Alpha finds Wallets. Wallets find more Alpha.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14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— factual anchors for the TRON pitch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5D66"/>
                </a:solidFill>
              </a:rPr>
              <a:t>Official protocol documentation + competitor positioning sources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002D"/>
                </a:solidFill>
              </a:rPr>
              <a:t>JustLend Energy Rental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514600" y="150876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1418"/>
                </a:solidFill>
              </a:rPr>
              <a:t>`liquidate(renter, receiver, resourceType)`; liquidator reward; Energy Rental contract reference.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73252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B7B83"/>
                </a:solidFill>
              </a:rPr>
              <a:t>docs.justlend.org/developers/energy_rental/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2011680"/>
            <a:ext cx="10817352" cy="0"/>
          </a:xfrm>
          <a:prstGeom prst="line">
            <a:avLst/>
          </a:prstGeom>
          <a:noFill/>
          <a:ln w="8890">
            <a:solidFill>
              <a:srgbClr val="E2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1305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002D"/>
                </a:solidFill>
              </a:rPr>
              <a:t>JustLend Liquidation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14600" y="213055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1418"/>
                </a:solidFill>
              </a:rPr>
              <a:t>Permissionless SBM liquidation; 8% liquidation reward; high-risk candidate API / bot workflow.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32520" y="2130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B7B83"/>
                </a:solidFill>
              </a:rPr>
              <a:t>docs.justlend.org/getting_started/concepts/liquidations/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633472"/>
            <a:ext cx="10817352" cy="0"/>
          </a:xfrm>
          <a:prstGeom prst="line">
            <a:avLst/>
          </a:prstGeom>
          <a:noFill/>
          <a:ln w="8890">
            <a:solidFill>
              <a:srgbClr val="E2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523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002D"/>
                </a:solidFill>
              </a:rPr>
              <a:t>USDD Clip / Liquidation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14600" y="2752344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1418"/>
                </a:solidFill>
              </a:rPr>
              <a:t>`redo(id, kpr)` reinitializes stale auctions; keepers are incentivized in liquidation/auction process.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32520" y="27523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B7B83"/>
                </a:solidFill>
              </a:rPr>
              <a:t>docs.usdd.io/developers/core-contracts/clip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3255264"/>
            <a:ext cx="10817352" cy="0"/>
          </a:xfrm>
          <a:prstGeom prst="line">
            <a:avLst/>
          </a:prstGeom>
          <a:noFill/>
          <a:ln w="8890">
            <a:solidFill>
              <a:srgbClr val="E2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374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002D"/>
                </a:solidFill>
              </a:rPr>
              <a:t>TRON AI / MCP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14600" y="337413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1418"/>
                </a:solidFill>
              </a:rPr>
              <a:t>TRON documents MCP / agent interfaces for TronGrid, TronScan, JustLend, USDD and more.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32520" y="33741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B7B83"/>
                </a:solidFill>
              </a:rPr>
              <a:t>developers.tron.network/docs/mcp-servers-on-tron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" y="3877056"/>
            <a:ext cx="10817352" cy="0"/>
          </a:xfrm>
          <a:prstGeom prst="line">
            <a:avLst/>
          </a:prstGeom>
          <a:noFill/>
          <a:ln w="8890">
            <a:solidFill>
              <a:srgbClr val="E2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9959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67C8"/>
                </a:solidFill>
              </a:rPr>
              <a:t>Phoenix Research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14600" y="3995928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1418"/>
                </a:solidFill>
              </a:rPr>
              <a:t>“The wallet as a strategy unit” — trading-focused wallet strategy intelligence.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32520" y="3995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B7B83"/>
                </a:solidFill>
              </a:rPr>
              <a:t>phoenixresearch.app/en/academy/searching-for-event-driven-trading-signals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" y="4498848"/>
            <a:ext cx="10817352" cy="0"/>
          </a:xfrm>
          <a:prstGeom prst="line">
            <a:avLst/>
          </a:prstGeom>
          <a:noFill/>
          <a:ln w="8890">
            <a:solidFill>
              <a:srgbClr val="E2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6177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67C8"/>
                </a:solidFill>
              </a:rPr>
              <a:t>EigenPhi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514600" y="461772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1418"/>
                </a:solidFill>
              </a:rPr>
              <a:t>Transaction Analysis + Trading Strategy Discovery + MEV analysis.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3252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B7B83"/>
                </a:solidFill>
              </a:rPr>
              <a:t>eigenphi.com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" y="5120640"/>
            <a:ext cx="10817352" cy="0"/>
          </a:xfrm>
          <a:prstGeom prst="line">
            <a:avLst/>
          </a:prstGeom>
          <a:noFill/>
          <a:ln w="8890">
            <a:solidFill>
              <a:srgbClr val="E2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52395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67C8"/>
                </a:solidFill>
              </a:rPr>
              <a:t>Nansen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514600" y="52395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1418"/>
                </a:solidFill>
              </a:rPr>
              <a:t>Smart Money focuses on historically profitable traders and their trading / holdings activity.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732520" y="5239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B7B83"/>
                </a:solidFill>
              </a:rPr>
              <a:t>academy.nansen.ai/en/help/articles/2132837-smart-money-101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" y="5742432"/>
            <a:ext cx="10817352" cy="0"/>
          </a:xfrm>
          <a:prstGeom prst="line">
            <a:avLst/>
          </a:prstGeom>
          <a:noFill/>
          <a:ln w="8890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7B7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Hackathon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 Alpha Finder</dc:title>
  <dc:subject>Protocol Alpha Finder — TRON Ecosystem Pitch</dc:subject>
  <dc:creator>OpenAI</dc:creator>
  <cp:lastModifiedBy>OpenAI</cp:lastModifiedBy>
  <cp:revision>1</cp:revision>
  <dcterms:created xsi:type="dcterms:W3CDTF">2026-09-29T05:02:40Z</dcterms:created>
  <dcterms:modified xsi:type="dcterms:W3CDTF">2026-09-29T05:02:40Z</dcterms:modified>
</cp:coreProperties>
</file>